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8" r:id="rId9"/>
    <p:sldId id="279" r:id="rId10"/>
    <p:sldId id="280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84" r:id="rId26"/>
    <p:sldId id="281" r:id="rId27"/>
    <p:sldId id="285" r:id="rId28"/>
    <p:sldId id="287" r:id="rId29"/>
    <p:sldId id="277" r:id="rId3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484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53056-BFB4-4B35-D5E7-FC3E6752D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9EEE11-9899-83D8-D4CD-51393B770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F7F37-0BD0-ADCC-07DB-B0126F5D7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97FF6-3700-7D41-DB0A-61CD78D102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3EA07-DDC2-29B2-6742-E58D4B54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A44DC6-2EDC-4ABD-4786-D0C997643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15FBD-026B-7209-C691-0DA0AC4DA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93F56-084F-9638-B7F8-EB34E283B7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742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BCB5-4D4E-1D39-57DC-F66FD630D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B93B19-274D-78B3-A4C9-8A973BC21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563B4-BEFA-6B97-DC91-DEC83FDA4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2369B-39CE-417A-C938-283144993A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95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6C6B4-72D9-93BB-E404-25175D0B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E33B6F-4BDD-A426-7B31-70CC7B45C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E8834-EAD6-4C57-8E79-8B7576E49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97E06-B188-C69F-CB63-3FD6A7CD46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938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CA3F6-0F34-C1CC-BFE9-55F3E861F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CD4C3A-9DCE-9F5E-4910-333EC645A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FCFBC-2EF9-7552-7A31-6D6729E72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06562-FF59-2352-CCA9-8172204900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684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46CEA-9BBE-3FDF-FCFA-DB945A8C8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6CE72-B355-8710-0429-CCCC81084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53F41B-E6BB-83C2-79D9-A57A10BE0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1763D-BF86-7859-FEE8-1CBDCC3BC2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930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3AEA1-28A9-8CF8-D139-F659FA612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A7AFE-D9FA-6D0C-6229-828D50A14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95078-F39D-A648-A0E4-940BC0C69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24CEA-77C7-D7F6-F68B-A3C1C46B01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781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7.png"/><Relationship Id="rId3" Type="http://schemas.openxmlformats.org/officeDocument/2006/relationships/image" Target="../media/image19.png"/><Relationship Id="rId7" Type="http://schemas.openxmlformats.org/officeDocument/2006/relationships/image" Target="../media/image1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10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7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rakeshbit/CalendarMate-AI-Copilot.git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5669280" cy="5669280"/>
          </a:xfrm>
          <a:prstGeom prst="ellipse">
            <a:avLst/>
          </a:prstGeom>
          <a:solidFill>
            <a:srgbClr val="2C7DA0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F4A259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calendarmate_deck/icons/calendar_1632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FOR TPMs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2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CalendarMate</a:t>
            </a:r>
            <a:endParaRPr lang="en-US" sz="58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35204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Orchestrator-Led Agentic AI Assistant for Time, Meetings &amp; Inbox Intelligence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F3E60"/>
          </a:solidFill>
          <a:ln w="12700">
            <a:solidFill>
              <a:srgbClr val="2C7D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777240" y="4864608"/>
            <a:ext cx="2400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157216"/>
            <a:ext cx="2446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ServionIQ Solutions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3543300" y="4864608"/>
            <a:ext cx="2400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543300" y="5157216"/>
            <a:ext cx="2446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Technical Program Manager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4864608"/>
            <a:ext cx="2400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5157216"/>
            <a:ext cx="2446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· Google Gemini · Google Workspace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9075420" y="4864608"/>
            <a:ext cx="2400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075420" y="5157216"/>
            <a:ext cx="2446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Rakesh Ranjan Yadav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ServionIQ Solutions — Company &amp; 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321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566928" cy="566928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alendarmate_deck/icons/briefc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288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33172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 for professional-services firms — consulting, legal, accounting, architecture and marketing agencies.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suite: project management, time tracking, CRM, billing, workforce planning and knowledge management.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cloud-native architecture built for easy deployment, configuration and third-party integration.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both boutique practices and global enterprise clients with the same platform core.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5376672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583680" y="1691640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calendarmate_deck/icons/userCheck_1632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82880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7190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Role: AI Technical Program Manager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423160"/>
            <a:ext cx="48463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 by the CTO to lead delivery of AI-powered solutions, with emphasis on emerging Agentic AI capability.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complex business needs into technically feasible product strategy alongside ML engineers, data scientists and designers.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ML model lifecycle, data infrastructure and experimentation/deployment pipelines while upholding governance, security and performance standards.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Many Calendars, Too Little Visibility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TPM, coordinating stakeholders across projects means juggling many calendars before a single meeting can be booked — and when meetings collide, the fallback is manual reliance on minutes and AI-generated notes after the fact.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554480" y="2651760"/>
            <a:ext cx="640080" cy="640080"/>
          </a:xfrm>
          <a:prstGeom prst="ellipse">
            <a:avLst/>
          </a:prstGeom>
          <a:solidFill>
            <a:srgbClr val="C1666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calendarmate_deck/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788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3232" y="347472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Multi-Calendar Scheduling Overhead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2519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meeting request needs visibility across several stakeholder calendars before a slot can be confirmed, consuming hours each week.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383280" y="233172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389120" y="2651760"/>
            <a:ext cx="640080" cy="640080"/>
          </a:xfrm>
          <a:prstGeom prst="ellipse">
            <a:avLst/>
          </a:prstGeom>
          <a:solidFill>
            <a:srgbClr val="C1666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calendarmate_deck/icons/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788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47872" y="347472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Meetings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42519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commitments are common; something is always double-booked, forcing trade-off decisions on the fly.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217920" y="233172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223760" y="2651760"/>
            <a:ext cx="640080" cy="640080"/>
          </a:xfrm>
          <a:prstGeom prst="ellipse">
            <a:avLst/>
          </a:prstGeom>
          <a:solidFill>
            <a:srgbClr val="C1666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calendarmate_deck/icons/slas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7889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82512" y="347472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Meetings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42519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and volume lead to missed sessions, leaving the TPM without direct context on decisions made.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9052560" y="233172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10058400" y="2651760"/>
            <a:ext cx="640080" cy="640080"/>
          </a:xfrm>
          <a:prstGeom prst="ellipse">
            <a:avLst/>
          </a:prstGeom>
          <a:solidFill>
            <a:srgbClr val="C1666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calendarmate_deck/icons/fi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27889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17152" y="347472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Reconstruction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9235440" y="42519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context means chasing minutes or AI-generated notes after the fact — reactive, slow and easy to lose track of.</a:t>
            </a:r>
            <a:endParaRPr lang="en-US" sz="1080" dirty="0"/>
          </a:p>
        </p:txBody>
      </p:sp>
      <p:sp>
        <p:nvSpPr>
          <p:cNvPr id="25" name="Text 1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Hidden Cost of Manual Calendar 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F3E60"/>
          </a:solidFill>
          <a:ln w="12700">
            <a:solidFill>
              <a:srgbClr val="2C7D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5–8 hrs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877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weekly per TPM to manual scheduling back-and-forth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F3E60"/>
          </a:solidFill>
          <a:ln w="12700">
            <a:solidFill>
              <a:srgbClr val="2C7D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337560" y="1965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5877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affected by an undetected conflict before a fix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F3E60"/>
          </a:solidFill>
          <a:ln w="12700">
            <a:solidFill>
              <a:srgbClr val="2C7D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126480" y="1965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45+ min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5877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daily reconstructing context from minutes &amp; notes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F3E60"/>
          </a:solidFill>
          <a:ln w="12700">
            <a:solidFill>
              <a:srgbClr val="2C7D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915400" y="1965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5877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view of the day’s calendar, inbox and meeting outputs today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estimates — used to frame the business case, not measured production data.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isolated annoyances — they compound across every stakeholder meeting a TPM runs, directly reducing the time available for actual program delivery.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1F3E60"/>
          </a:solidFill>
          <a:ln w="12700">
            <a:solidFill>
              <a:srgbClr val="2C7D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8680" y="5010912"/>
            <a:ext cx="548640" cy="54864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0" descr="/home/claude/calendarmate_deck/icons/target_1632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148072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60020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the ask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600200" y="53492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Agentic AI Assistant — CalendarMate — that consolidates meeting notes, schedules against real availability, summarizes the day’s email, and gives a single quick view of daily activity.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Q1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Benefits of Agentic AI for Employee Productivity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4C956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alendarmate_deck/icons/c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367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Reclaimed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6712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scheduling and triage remove the manual back-and-forth of coordinating calendars, returning hours per week to high-value program work.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26280" y="1645920"/>
            <a:ext cx="457200" cy="457200"/>
          </a:xfrm>
          <a:prstGeom prst="ellipse">
            <a:avLst/>
          </a:prstGeom>
          <a:solidFill>
            <a:srgbClr val="4C956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calendarmate_deck/icons/cpu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7830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20640" y="16367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Execution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16712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apply the same rules and checks every time — no missed conflict, no forgotten follow-up — unlike ad-hoc manual handling.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275320" y="1645920"/>
            <a:ext cx="457200" cy="457200"/>
          </a:xfrm>
          <a:prstGeom prst="ellipse">
            <a:avLst/>
          </a:prstGeom>
          <a:solidFill>
            <a:srgbClr val="4C956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calendarmate_deck/icons/branc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78308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69680" y="16367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Orchestrated, Not Siloed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16712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orchestrator can call specialised sub-agents (email, notes, calendar), giving one coherent assistant instead of disconnected point tools.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4C956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calendarmate_deck/icons/ey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977640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38313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Visibility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36168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digest of meetings, notes and email gives employees a single pane of glass instead of hunting across five apps.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29768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526280" y="3840480"/>
            <a:ext cx="457200" cy="457200"/>
          </a:xfrm>
          <a:prstGeom prst="ellipse">
            <a:avLst/>
          </a:prstGeom>
          <a:solidFill>
            <a:srgbClr val="4C956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calendarmate_deck/icons/tren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977640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20640" y="38313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Without Headcount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36168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pattern extends to more employees or use cases without proportional increases in support or admin staff.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04672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275320" y="3840480"/>
            <a:ext cx="457200" cy="457200"/>
          </a:xfrm>
          <a:prstGeom prst="ellipse">
            <a:avLst/>
          </a:prstGeom>
          <a:solidFill>
            <a:srgbClr val="4C956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home/claude/calendarmate_deck/icons/shiel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3977640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8313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Governable by Design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436168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and audit trails keep AI-driven actions transparent and reviewable — critical for enterprise adoption.</a:t>
            </a:r>
            <a:endParaRPr lang="en-US" sz="1080" dirty="0"/>
          </a:p>
        </p:txBody>
      </p:sp>
      <p:sp>
        <p:nvSpPr>
          <p:cNvPr id="34" name="Text 2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Q2 — 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CalendarMate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conversational Agentic AI Assistant, built in n8n, that acts on the TPM’s behalf across calendar, email and meeting notes — directly answering the problem statement’s four asks.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554480" y="2423160"/>
            <a:ext cx="640080" cy="64008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calendarmate_deck/icons/file_1632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560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3232" y="324612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Meeting Notes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88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together notes from multiple meetings held during the day into one consolidated summary, on request.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3383280" y="21488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389120" y="2423160"/>
            <a:ext cx="640080" cy="64008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calendarmate_deck/icons/calendar_1632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560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47872" y="324612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Availability-Aware Scheduling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388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real calendar availability before drafting, updating or cancelling a meeting — no more blind invites.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6217920" y="21488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223760" y="2423160"/>
            <a:ext cx="640080" cy="64008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calendarmate_deck/icons/mail_16324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560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82512" y="324612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Email Summarization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388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the day’s inbox activity so nothing important is missed between meetings.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9052560" y="21488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10058400" y="2423160"/>
            <a:ext cx="640080" cy="64008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calendarmate_deck/icons/activity_16324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25603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17152" y="324612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Daily Activity View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9235440" y="388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an on-demand snapshot of the day’s meetings, tasks and messages in one conversational reply.</a:t>
            </a:r>
            <a:endParaRPr lang="en-US" sz="1030" dirty="0"/>
          </a:p>
        </p:txBody>
      </p:sp>
      <p:sp>
        <p:nvSpPr>
          <p:cNvPr id="25" name="Shape 19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2F8"/>
          </a:solidFill>
          <a:ln w="12700">
            <a:solidFill>
              <a:srgbClr val="CF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822960" y="5394960"/>
            <a:ext cx="502920" cy="50292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/home/claude/calendarmate_deck/icons/robo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3212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508760" y="539496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12-node AI Agent + tools architecture in n8n — an orchestrator agent, two callable sub-agents, and five deterministic calendar/data tools, detailed over the next slides.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Orchestrator-Led Multi-Agent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9431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" y="2107692"/>
            <a:ext cx="438912" cy="438912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alendarmate_deck/icons/messag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244852"/>
            <a:ext cx="164592" cy="1645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25648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Trigger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212848" y="2290572"/>
            <a:ext cx="347472" cy="219456"/>
          </a:xfrm>
          <a:prstGeom prst="rightArrow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697480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889504" y="1874520"/>
            <a:ext cx="457200" cy="45720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calendarmate_deck/icons/robot_1632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664" y="20116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6432" y="18288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Orchestrator Agent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88036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reasoning · routes each request to the right tool or sub-agent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429000" y="3108960"/>
            <a:ext cx="0" cy="256032"/>
          </a:xfrm>
          <a:prstGeom prst="line">
            <a:avLst/>
          </a:prstGeom>
          <a:noFill/>
          <a:ln w="19050">
            <a:solidFill>
              <a:srgbClr val="2C7DA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572000" y="3108960"/>
            <a:ext cx="0" cy="256032"/>
          </a:xfrm>
          <a:prstGeom prst="line">
            <a:avLst/>
          </a:prstGeom>
          <a:noFill/>
          <a:ln w="19050">
            <a:solidFill>
              <a:srgbClr val="2C7DA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2880360" y="3364992"/>
            <a:ext cx="1143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3044952" y="3483864"/>
            <a:ext cx="365760" cy="36576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/home/claude/calendarmate_deck/icons/goog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112" y="3621024"/>
            <a:ext cx="91440" cy="914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880360" y="38770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Chat Model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114800" y="3364992"/>
            <a:ext cx="1143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4279392" y="3483864"/>
            <a:ext cx="365760" cy="36576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calendarmate_deck/icons/databas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52" y="3621024"/>
            <a:ext cx="91440" cy="914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114800" y="38770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Memory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5413248" y="2290572"/>
            <a:ext cx="347472" cy="219456"/>
          </a:xfrm>
          <a:prstGeom prst="rightArrow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5897880" y="169164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5989320" y="1810512"/>
            <a:ext cx="420624" cy="420624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/home/claude/calendarmate_deck/icons/ey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1947672"/>
            <a:ext cx="146304" cy="14630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483096" y="1691640"/>
            <a:ext cx="1179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check_availability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5897880" y="246888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5989320" y="2587752"/>
            <a:ext cx="420624" cy="420624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home/claude/calendarmate_deck/icons/calenda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2724912"/>
            <a:ext cx="146304" cy="14630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483096" y="2468880"/>
            <a:ext cx="1179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get_calendar_events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5897880" y="324612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6"/>
          <p:cNvSpPr/>
          <p:nvPr/>
        </p:nvSpPr>
        <p:spPr>
          <a:xfrm>
            <a:off x="5989320" y="3364992"/>
            <a:ext cx="420624" cy="420624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6" descr="/home/claude/calendarmate_deck/icons/edit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502152"/>
            <a:ext cx="146304" cy="14630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483096" y="3246120"/>
            <a:ext cx="1179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draft_calendar_event</a:t>
            </a:r>
            <a:endParaRPr lang="en-US" sz="850" dirty="0"/>
          </a:p>
        </p:txBody>
      </p:sp>
      <p:sp>
        <p:nvSpPr>
          <p:cNvPr id="37" name="Shape 28"/>
          <p:cNvSpPr/>
          <p:nvPr/>
        </p:nvSpPr>
        <p:spPr>
          <a:xfrm>
            <a:off x="5897880" y="402336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29"/>
          <p:cNvSpPr/>
          <p:nvPr/>
        </p:nvSpPr>
        <p:spPr>
          <a:xfrm>
            <a:off x="5989320" y="4142232"/>
            <a:ext cx="420624" cy="420624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7" descr="/home/claude/calendarmate_deck/icons/trash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4279392"/>
            <a:ext cx="146304" cy="14630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483096" y="4023360"/>
            <a:ext cx="1179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delete_calendar_event</a:t>
            </a:r>
            <a:endParaRPr lang="en-US" sz="850" dirty="0"/>
          </a:p>
        </p:txBody>
      </p:sp>
      <p:sp>
        <p:nvSpPr>
          <p:cNvPr id="41" name="Shape 31"/>
          <p:cNvSpPr/>
          <p:nvPr/>
        </p:nvSpPr>
        <p:spPr>
          <a:xfrm>
            <a:off x="5897880" y="480060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2"/>
          <p:cNvSpPr/>
          <p:nvPr/>
        </p:nvSpPr>
        <p:spPr>
          <a:xfrm>
            <a:off x="5989320" y="4919472"/>
            <a:ext cx="420624" cy="420624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3" name="Image 8" descr="/home/claude/calendarmate_deck/icons/refresh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0" y="5056632"/>
            <a:ext cx="146304" cy="146304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483096" y="4800600"/>
            <a:ext cx="1179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update_calendar_event</a:t>
            </a:r>
            <a:endParaRPr lang="en-US" sz="850" dirty="0"/>
          </a:p>
        </p:txBody>
      </p:sp>
      <p:sp>
        <p:nvSpPr>
          <p:cNvPr id="45" name="Shape 34"/>
          <p:cNvSpPr/>
          <p:nvPr/>
        </p:nvSpPr>
        <p:spPr>
          <a:xfrm>
            <a:off x="7936992" y="2290572"/>
            <a:ext cx="347472" cy="219456"/>
          </a:xfrm>
          <a:prstGeom prst="rightArrow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35"/>
          <p:cNvSpPr/>
          <p:nvPr/>
        </p:nvSpPr>
        <p:spPr>
          <a:xfrm>
            <a:off x="8458200" y="169164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EAF2F8"/>
          </a:solidFill>
          <a:ln w="12700">
            <a:solidFill>
              <a:srgbClr val="CF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36"/>
          <p:cNvSpPr/>
          <p:nvPr/>
        </p:nvSpPr>
        <p:spPr>
          <a:xfrm>
            <a:off x="8641080" y="1874520"/>
            <a:ext cx="502920" cy="502920"/>
          </a:xfrm>
          <a:prstGeom prst="ellipse">
            <a:avLst/>
          </a:prstGeom>
          <a:solidFill>
            <a:srgbClr val="4C956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Image 9" descr="/home/claude/calendarmate_deck/icons/mail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78240" y="2011680"/>
            <a:ext cx="228600" cy="228600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9281160" y="1837944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Summarizer Agent</a:t>
            </a:r>
            <a:endParaRPr lang="en-US" sz="1150" dirty="0"/>
          </a:p>
        </p:txBody>
      </p:sp>
      <p:sp>
        <p:nvSpPr>
          <p:cNvPr id="50" name="Text 38"/>
          <p:cNvSpPr txBox="1"/>
          <p:nvPr/>
        </p:nvSpPr>
        <p:spPr>
          <a:xfrm>
            <a:off x="928116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· Gmail tool</a:t>
            </a:r>
            <a:endParaRPr lang="en-US" sz="950" dirty="0"/>
          </a:p>
        </p:txBody>
      </p:sp>
      <p:sp>
        <p:nvSpPr>
          <p:cNvPr id="51" name="Shape 39"/>
          <p:cNvSpPr/>
          <p:nvPr/>
        </p:nvSpPr>
        <p:spPr>
          <a:xfrm>
            <a:off x="8458200" y="3364992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EAF2F8"/>
          </a:solidFill>
          <a:ln w="12700">
            <a:solidFill>
              <a:srgbClr val="CF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0"/>
          <p:cNvSpPr/>
          <p:nvPr/>
        </p:nvSpPr>
        <p:spPr>
          <a:xfrm>
            <a:off x="8641080" y="3547872"/>
            <a:ext cx="502920" cy="502920"/>
          </a:xfrm>
          <a:prstGeom prst="ellipse">
            <a:avLst/>
          </a:prstGeom>
          <a:solidFill>
            <a:srgbClr val="4C956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3" name="Image 10" descr="/home/claude/calendarmate_deck/icons/file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8240" y="3685032"/>
            <a:ext cx="228600" cy="228600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9281160" y="3511296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Consolidator Agent</a:t>
            </a:r>
            <a:endParaRPr lang="en-US" sz="1150" dirty="0"/>
          </a:p>
        </p:txBody>
      </p:sp>
      <p:sp>
        <p:nvSpPr>
          <p:cNvPr id="55" name="Text 42"/>
          <p:cNvSpPr txBox="1"/>
          <p:nvPr/>
        </p:nvSpPr>
        <p:spPr>
          <a:xfrm>
            <a:off x="9281160" y="41879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· Drive/Docs tool</a:t>
            </a:r>
            <a:endParaRPr lang="en-US" sz="950" dirty="0"/>
          </a:p>
        </p:txBody>
      </p:sp>
      <p:sp>
        <p:nvSpPr>
          <p:cNvPr id="56" name="Shape 43"/>
          <p:cNvSpPr/>
          <p:nvPr/>
        </p:nvSpPr>
        <p:spPr>
          <a:xfrm>
            <a:off x="502920" y="5650992"/>
            <a:ext cx="11109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Text 44"/>
          <p:cNvSpPr txBox="1"/>
          <p:nvPr/>
        </p:nvSpPr>
        <p:spPr>
          <a:xfrm>
            <a:off x="777240" y="57332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diagram</a:t>
            </a:r>
            <a:endParaRPr lang="en-US" sz="1050" dirty="0"/>
          </a:p>
        </p:txBody>
      </p:sp>
      <p:sp>
        <p:nvSpPr>
          <p:cNvPr id="58" name="Text 45"/>
          <p:cNvSpPr txBox="1"/>
          <p:nvPr/>
        </p:nvSpPr>
        <p:spPr>
          <a:xfrm>
            <a:off x="777240" y="596188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chats with CalendarMate in natural language. The Orchestrator (Google Gemini + short-term memory) interprets intent and calls a deterministic calendar tool directly, or hands off to a sub-agent for email / meeting-notes work — then returns one consolidated answer.</a:t>
            </a:r>
            <a:endParaRPr lang="en-US" sz="950" dirty="0"/>
          </a:p>
        </p:txBody>
      </p:sp>
      <p:sp>
        <p:nvSpPr>
          <p:cNvPr id="59" name="Text 4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0" name="Text 4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17ECB1-18E9-11E8-6371-9DFE95806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1D3DFBA-9D8E-1183-62D6-5A80F0D85CD4}"/>
              </a:ext>
            </a:extLst>
          </p:cNvPr>
          <p:cNvSpPr txBox="1"/>
          <p:nvPr/>
        </p:nvSpPr>
        <p:spPr>
          <a:xfrm>
            <a:off x="431796" y="344425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Mate - </a:t>
            </a: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</a:rPr>
              <a:t>n8n Workflow Snapshot</a:t>
            </a:r>
          </a:p>
        </p:txBody>
      </p:sp>
      <p:sp>
        <p:nvSpPr>
          <p:cNvPr id="59" name="Text 46">
            <a:extLst>
              <a:ext uri="{FF2B5EF4-FFF2-40B4-BE49-F238E27FC236}">
                <a16:creationId xmlns:a16="http://schemas.microsoft.com/office/drawing/2014/main" id="{8F2ADFAE-1480-CFAE-FCA0-CFCF25BF7142}"/>
              </a:ext>
            </a:extLst>
          </p:cNvPr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0" name="Text 47">
            <a:extLst>
              <a:ext uri="{FF2B5EF4-FFF2-40B4-BE49-F238E27FC236}">
                <a16:creationId xmlns:a16="http://schemas.microsoft.com/office/drawing/2014/main" id="{6F5809DF-790B-EC37-DD7C-3FB0D9D20AE8}"/>
              </a:ext>
            </a:extLst>
          </p:cNvPr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44829727-7673-503A-FE71-414125A03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14" y="1042712"/>
            <a:ext cx="11463871" cy="426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718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61290-AE38-607F-A3D2-62932A8E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716E90B-EEED-6B72-FA40-CE5FB281C472}"/>
              </a:ext>
            </a:extLst>
          </p:cNvPr>
          <p:cNvSpPr txBox="1"/>
          <p:nvPr/>
        </p:nvSpPr>
        <p:spPr>
          <a:xfrm>
            <a:off x="431796" y="344425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Summarizer Agent </a:t>
            </a: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</a:rPr>
              <a:t>n8n Workflow Snapshot</a:t>
            </a:r>
          </a:p>
        </p:txBody>
      </p:sp>
      <p:sp>
        <p:nvSpPr>
          <p:cNvPr id="59" name="Text 46">
            <a:extLst>
              <a:ext uri="{FF2B5EF4-FFF2-40B4-BE49-F238E27FC236}">
                <a16:creationId xmlns:a16="http://schemas.microsoft.com/office/drawing/2014/main" id="{EF4B411E-5595-36FA-6FDE-3A9BB1D50CA0}"/>
              </a:ext>
            </a:extLst>
          </p:cNvPr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0" name="Text 47">
            <a:extLst>
              <a:ext uri="{FF2B5EF4-FFF2-40B4-BE49-F238E27FC236}">
                <a16:creationId xmlns:a16="http://schemas.microsoft.com/office/drawing/2014/main" id="{62BBF242-B552-7226-282B-1ED40D584C6D}"/>
              </a:ext>
            </a:extLst>
          </p:cNvPr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07A4F0-E434-4BE9-98C2-7ACB060C9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68" y="1396452"/>
            <a:ext cx="11614515" cy="397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966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A56E0-2173-19CE-7C6E-E285E1F4B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C8B4746-55F5-C49A-07BE-9811E64B735C}"/>
              </a:ext>
            </a:extLst>
          </p:cNvPr>
          <p:cNvSpPr txBox="1"/>
          <p:nvPr/>
        </p:nvSpPr>
        <p:spPr>
          <a:xfrm>
            <a:off x="431796" y="344425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Consolidator Agent</a:t>
            </a: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</a:rPr>
              <a:t>n8n Workflow Snapshot</a:t>
            </a:r>
          </a:p>
        </p:txBody>
      </p:sp>
      <p:sp>
        <p:nvSpPr>
          <p:cNvPr id="59" name="Text 46">
            <a:extLst>
              <a:ext uri="{FF2B5EF4-FFF2-40B4-BE49-F238E27FC236}">
                <a16:creationId xmlns:a16="http://schemas.microsoft.com/office/drawing/2014/main" id="{CC8C6555-5253-3258-2DB8-A435A6304673}"/>
              </a:ext>
            </a:extLst>
          </p:cNvPr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0" name="Text 47">
            <a:extLst>
              <a:ext uri="{FF2B5EF4-FFF2-40B4-BE49-F238E27FC236}">
                <a16:creationId xmlns:a16="http://schemas.microsoft.com/office/drawing/2014/main" id="{EFC7043D-6578-996B-3226-91B0C1070045}"/>
              </a:ext>
            </a:extLst>
          </p:cNvPr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6804DE-D030-5D39-4B45-C9D7395CF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68" y="1435171"/>
            <a:ext cx="11347956" cy="371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516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NODE-BY-NODE · PART 1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Reasoning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548640" cy="54864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alendarmate_deck/icons/messag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013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58191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Chat Message Received (Trigger)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8928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of the workflow. Fires on every inbound chat message and passes the raw text into the agent as a single item.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62432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77240" y="2871216"/>
            <a:ext cx="548640" cy="54864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calendarmate_deck/icons/robot_1632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0837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27889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AI Agent (Orchestrator)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309981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LangChain AI Agent node at the centre of the workflow. Reads intent, decides which tool(s) or sub-agent to call, and composes the final natural-language reply.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83133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77240" y="4078224"/>
            <a:ext cx="548640" cy="54864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calendarmate_deck/icons/goog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1538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99592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Chat Model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430682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the language-reasoning backbone for the orchestrator — intent parsing, tool selection and response drafting all run through this model connection.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03834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77240" y="5285232"/>
            <a:ext cx="548640" cy="54864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calendarmate_deck/icons/databas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42239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520293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Memory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1600200" y="551383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short-term conversational context across turns, so follow-up requests (“move that to 4pm instead”) resolve correctly without re-stating details.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NODE-BY-NODE · PART 2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Calendar Action Tools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deterministic Google Calendar tool-nodes the orchestrator can invoke — each scoped to one action, so behaviour stays predictable and auditable.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03120" cy="35661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307592" y="2240280"/>
            <a:ext cx="585216" cy="585216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calendarmate_deck/icons/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23774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" y="297180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check_availability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44728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getAll: event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94944" y="3794760"/>
            <a:ext cx="1810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free/busy status across the relevant calendar(s) before any meeting is proposed — the guard against double-booking.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2798064" y="1965960"/>
            <a:ext cx="2103120" cy="35661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557016" y="2240280"/>
            <a:ext cx="585216" cy="585216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calendarmate_deck/icons/calend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176" y="237744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07792" y="297180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get_calendar_events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907792" y="344728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getAll: event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2944368" y="3794760"/>
            <a:ext cx="1810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day’s (or a range’s) scheduled events, feeding the “quick daily activity view” capability.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5047488" y="1965960"/>
            <a:ext cx="2103120" cy="35661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5806440" y="2240280"/>
            <a:ext cx="585216" cy="585216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/home/claude/calendarmate_deck/icons/edi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377440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57216" y="297180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draft_calendar_event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5157216" y="344728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event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5193792" y="3794760"/>
            <a:ext cx="1810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calendar event once availability is confirmed — the core scheduling action.</a:t>
            </a:r>
            <a:endParaRPr lang="en-US" sz="980" dirty="0"/>
          </a:p>
        </p:txBody>
      </p:sp>
      <p:sp>
        <p:nvSpPr>
          <p:cNvPr id="23" name="Shape 18"/>
          <p:cNvSpPr/>
          <p:nvPr/>
        </p:nvSpPr>
        <p:spPr>
          <a:xfrm>
            <a:off x="7296912" y="1965960"/>
            <a:ext cx="2103120" cy="35661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8055864" y="2240280"/>
            <a:ext cx="585216" cy="585216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/home/claude/calendarmate_deck/icons/refres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24" y="237744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06640" y="297180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update_calendar_event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406640" y="344728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event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7443216" y="3794760"/>
            <a:ext cx="1810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an existing event (time, attendees, agenda) when plans change.</a:t>
            </a:r>
            <a:endParaRPr lang="en-US" sz="980" dirty="0"/>
          </a:p>
        </p:txBody>
      </p:sp>
      <p:sp>
        <p:nvSpPr>
          <p:cNvPr id="29" name="Shape 23"/>
          <p:cNvSpPr/>
          <p:nvPr/>
        </p:nvSpPr>
        <p:spPr>
          <a:xfrm>
            <a:off x="9546336" y="1965960"/>
            <a:ext cx="2103120" cy="35661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10305288" y="2240280"/>
            <a:ext cx="585216" cy="585216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4" descr="/home/claude/calendarmate_deck/icons/trash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2448" y="2377440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656064" y="297180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delete_calendar_event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9656064" y="344728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event</a:t>
            </a:r>
            <a:endParaRPr lang="en-US" sz="850" dirty="0"/>
          </a:p>
        </p:txBody>
      </p:sp>
      <p:sp>
        <p:nvSpPr>
          <p:cNvPr id="34" name="Text 27"/>
          <p:cNvSpPr txBox="1"/>
          <p:nvPr/>
        </p:nvSpPr>
        <p:spPr>
          <a:xfrm>
            <a:off x="9692640" y="3794760"/>
            <a:ext cx="1810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 an event cleanly, keeping every attendee’s calendar in sync.</a:t>
            </a:r>
            <a:endParaRPr lang="en-US" sz="980" dirty="0"/>
          </a:p>
        </p:txBody>
      </p:sp>
      <p:sp>
        <p:nvSpPr>
          <p:cNvPr id="35" name="Text 2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NODE-BY-NODE · PART 3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Callable Sub-Agents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specialised agents the orchestrator calls as tools of their own — keeping each domain’s prompt and data source isolated from the core scheduling logic.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685800" cy="68580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calendarmate_deck/icons/mail_1632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4231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2860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Email Summarizer Agent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4612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 when the user asks for an inbox summary or the daily digest branch fires. Reads recent Gmail activity and returns a concise, prioritized summary of what came in during the day — directly answering the “summarize emails received” requirement.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9659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583680" y="2286000"/>
            <a:ext cx="685800" cy="68580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calendarmate_deck/icons/file_1632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423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52360" y="22860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Meeting Notes Consolidator Agent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324612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 when the user asks for a rollup of the day’s meetings. Pulls notes/transcripts from multiple sessions and merges them into one consolidated summary — directly answering the “generate consolidated meeting notes” requirement.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/>
              <a:t>13</a:t>
            </a:r>
          </a:p>
        </p:txBody>
      </p:sp>
      <p:sp>
        <p:nvSpPr>
          <p:cNvPr id="16" name="Text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Day in the Life of a CalendarMate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me 30 minutes with the design team this week.”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611880"/>
            <a:ext cx="22037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trigger receives the request; Orchestrator parses intent as a scheduling task.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3172968" y="3200400"/>
            <a:ext cx="128016" cy="228600"/>
          </a:xfrm>
          <a:prstGeom prst="rightArrow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19272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502152" y="1920240"/>
            <a:ext cx="502920" cy="50292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50215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60604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calls check_availability, then get_calendar_events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611880"/>
            <a:ext cx="22037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 genuinely open slot across all attendees before proposing anything.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943600" y="3200400"/>
            <a:ext cx="128016" cy="228600"/>
          </a:xfrm>
          <a:prstGeom prst="rightArrow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89904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72784" y="1920240"/>
            <a:ext cx="502920" cy="50292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27278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260604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calls draft_calendar_event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3611880"/>
            <a:ext cx="22037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event with the agreed time, attendees and agenda once a slot is confirmed.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8714232" y="3200400"/>
            <a:ext cx="128016" cy="228600"/>
          </a:xfrm>
          <a:prstGeom prst="rightArrow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860536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043416" y="1920240"/>
            <a:ext cx="502920" cy="50292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904341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061704" y="260604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replies in chat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061704" y="3611880"/>
            <a:ext cx="22037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booking back to the user in plain language, remembered via Simple Memory for any follow-up edits.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AF2F8"/>
          </a:solidFill>
          <a:ln w="12700">
            <a:solidFill>
              <a:srgbClr val="CFE3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— verify, act, confirm — applies whether the request is to draft, update or delete an event, or to trigger one of the two sub-agents.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Performance &amp; Reliability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latency and reliability envelope for each node, validated during build-and-test on representative calendar and inbox volumes.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58368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041648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596128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Latency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150608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705088" y="1920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58368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Chat Message Received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41648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596128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 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150608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705088" y="2377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passive listener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58368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AI Agent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041648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596128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1.8–2.5 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150608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705088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tool call once; else asks user to rephrase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58368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Chat Model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041648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connection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596128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1.2 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150608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705088" y="3291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auto-retry on transient API errors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7490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58368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Memory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041648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store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596128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 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150608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705088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resets cleanly on trigger restart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42062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658368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check_availability / get_calendar_events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041648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tools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596128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0.4–0.7 s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150608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705088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Google API errors back to the agent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46634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658368" y="4663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 update / delete_calendar_event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041648" y="4663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tools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596128" y="4663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0.6–1.0 s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150608" y="4663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8705088" y="4663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success before agent replies to user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" y="51206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658368" y="5120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Summarizer Agent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4041648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5596128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2.0–3.0 s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7150608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8705088" y="5120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“no new emails to summarize” on empty set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48640" y="55778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 txBox="1"/>
          <p:nvPr/>
        </p:nvSpPr>
        <p:spPr>
          <a:xfrm>
            <a:off x="658368" y="5577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Consolidator Agent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4041648" y="5577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5596128" y="5577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2.5–3.5 s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7150608" y="5577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8705088" y="5577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missing transcripts rather than guessing content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ROI of CalendarMate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F3E60"/>
          </a:solidFill>
          <a:ln w="12700">
            <a:solidFill>
              <a:srgbClr val="2C7D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CALENDARMATE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✖"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cross-checking 3–5 calendars per meeting request</a:t>
            </a:r>
            <a:endParaRPr lang="en-US" sz="1150" dirty="0"/>
          </a:p>
          <a:p>
            <a:pPr marL="342900" indent="-342900">
              <a:spcAft>
                <a:spcPts val="1400"/>
              </a:spcAft>
              <a:buSzPct val="100000"/>
              <a:buChar char="✖"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discovered after the invite is sent</a:t>
            </a:r>
            <a:endParaRPr lang="en-US" sz="1150" dirty="0"/>
          </a:p>
          <a:p>
            <a:pPr marL="342900" indent="-342900">
              <a:spcAft>
                <a:spcPts val="1400"/>
              </a:spcAft>
              <a:buSzPct val="100000"/>
              <a:buChar char="✖"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reconstructed from memory or scattered docs</a:t>
            </a:r>
            <a:endParaRPr lang="en-US" sz="1150" dirty="0"/>
          </a:p>
          <a:p>
            <a:pPr marL="342900" indent="-342900">
              <a:spcAft>
                <a:spcPts val="1400"/>
              </a:spcAft>
              <a:buSzPct val="100000"/>
              <a:buChar char="✖"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triage done manually between meetings</a:t>
            </a:r>
            <a:endParaRPr lang="en-US" sz="1150" dirty="0"/>
          </a:p>
          <a:p>
            <a:pPr marL="342900" indent="-342900">
              <a:spcAft>
                <a:spcPts val="1400"/>
              </a:spcAft>
              <a:buSzPct val="100000"/>
              <a:buChar char="✖"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of the day — constant app-switching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80760" y="1508760"/>
            <a:ext cx="5532120" cy="4160520"/>
          </a:xfrm>
          <a:prstGeom prst="roundRect">
            <a:avLst>
              <a:gd name="adj" fmla="val 1758"/>
            </a:avLst>
          </a:prstGeom>
          <a:solidFill>
            <a:srgbClr val="1F3E60"/>
          </a:solidFill>
          <a:ln w="12700">
            <a:solidFill>
              <a:srgbClr val="F4A2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35508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CALENDARMATE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05740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✔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checked automatically before any invite is drafted</a:t>
            </a:r>
            <a:endParaRPr lang="en-US" sz="1150" dirty="0"/>
          </a:p>
          <a:p>
            <a:pPr marL="342900" indent="-342900">
              <a:spcAft>
                <a:spcPts val="1400"/>
              </a:spcAft>
              <a:buSzPct val="100000"/>
              <a:buChar char="✔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caught before a slot is proposed</a:t>
            </a:r>
            <a:endParaRPr lang="en-US" sz="1150" dirty="0"/>
          </a:p>
          <a:p>
            <a:pPr marL="342900" indent="-342900">
              <a:spcAft>
                <a:spcPts val="1400"/>
              </a:spcAft>
              <a:buSzPct val="100000"/>
              <a:buChar char="✔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notes generated on request from all of the day’s meetings</a:t>
            </a:r>
            <a:endParaRPr lang="en-US" sz="1150" dirty="0"/>
          </a:p>
          <a:p>
            <a:pPr marL="342900" indent="-342900">
              <a:spcAft>
                <a:spcPts val="1400"/>
              </a:spcAft>
              <a:buSzPct val="100000"/>
              <a:buChar char="✔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email summary delivered without manual reading</a:t>
            </a:r>
            <a:endParaRPr lang="en-US" sz="1150" dirty="0"/>
          </a:p>
          <a:p>
            <a:pPr marL="342900" indent="-342900">
              <a:spcAft>
                <a:spcPts val="1400"/>
              </a:spcAft>
              <a:buSzPct val="100000"/>
              <a:buChar char="✔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conversational query gives the full day’s picture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outcomes framed for this assignment’s business case — to be validated against real pilot telemetry once CalendarMate is live.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Q3 — PROGRAM CHARTER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Vision, Purpose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alendarmate_deck/icons/compass_1632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8745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TPM who never has to manually cross-check a calendar, chase a meeting note, or scroll an inbox to know how their day looks.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calendarmate_deck/icons/targ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24612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657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 Agentic AI Assistant that removes the manual overhead of multi-calendar coordination, so TPM time shifts from scheduling logistics to program delivery and stakeholder engagement.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288036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492240" y="3108960"/>
            <a:ext cx="457200" cy="457200"/>
          </a:xfrm>
          <a:prstGeom prst="ellipse">
            <a:avLst/>
          </a:prstGeom>
          <a:solidFill>
            <a:srgbClr val="4C956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calendarmate_deck/icons/fla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24612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3232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657600"/>
            <a:ext cx="4892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 n8n-based orchestrator agent covering scheduling, notes and email use cases.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manual scheduling coordination time materially within one quarter of rollout.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AI-initiated calendar change reviewable and reversible.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reusable agent pattern other TPM workflows can extend.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CHARTER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Charter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4C956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alendarmate_deck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830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48463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orchestrator agent with Google Calendar read/write tools.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for daily email summarization and meeting-notes consolidation.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(chat) interface for all requests.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for any destructive action (delete/update) above a configurable threshold.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rollout to the TPM function within ServionIQ Solutions.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492240" y="1645920"/>
            <a:ext cx="502920" cy="502920"/>
          </a:xfrm>
          <a:prstGeom prst="ellipse">
            <a:avLst/>
          </a:prstGeom>
          <a:solidFill>
            <a:srgbClr val="C1666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calendarmate_deck/icons/slas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7830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331720"/>
            <a:ext cx="4892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meeting transcription or in-call recording (relies on pre-saved notes/transcripts).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platforms beyond Google Workspace at launch (e.g. Outlook/Exchange).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Autonomous, unreviewed cancellation of externally-organized meetings.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rollout beyond the TPM pilot group in Phase 1.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or HR system integrations.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CHARTER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 &amp; Success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664208"/>
            <a:ext cx="457200" cy="45720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alendarmate_deck/icons/c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01368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35024" y="16276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time per meeting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42316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≥50% reduction vs. baseline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4630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498848" y="1664208"/>
            <a:ext cx="457200" cy="45720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calendarmate_deck/icons/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180136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84064" y="16276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double-bookings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498848" y="242316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after pilot month 1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4630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247888" y="1664208"/>
            <a:ext cx="457200" cy="45720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calendarmate_deck/icons/mail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801368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33104" y="16276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digest adoption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247888" y="242316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≥80% of pilot users active weekly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2461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49808" y="3447288"/>
            <a:ext cx="457200" cy="45720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calendarmate_deck/icons/user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3584448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35024" y="34107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override rate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20624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Tracked, trending down over time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2461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498848" y="3447288"/>
            <a:ext cx="457200" cy="45720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calendarmate_deck/icons/che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008" y="3584448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084064" y="34107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task success rate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4498848" y="420624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≥96% across tool calls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2461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247888" y="3447288"/>
            <a:ext cx="457200" cy="45720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home/claude/calendarmate_deck/icons/tren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048" y="3584448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33104" y="34107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TPM-reported time saved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8247888" y="420624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survey each pilot month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criteria: the pilot is considered successful if scheduling time and double-booking metrics hit target for two consecutive months with agent success rate ≥96%.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CHARTER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Program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6362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Design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562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1343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requirements against the problem statement, finalize architecture, secure Google Workspace API access and credentials.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480560" y="1600200"/>
            <a:ext cx="457200" cy="45720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4805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56362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Core Agent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18562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3–5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231343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orchestrator, chat model, memory and the five calendar tools in n8n; unit-test each node.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29600" y="1600200"/>
            <a:ext cx="457200" cy="45720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2296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156362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Sub-Agents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18562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6–7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247888" y="231343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Email Summarizer and Meeting Notes Consolidator sub-agents; integrate with orchestrator as callable tools.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5753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&amp; HITL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8679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32511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scenario testing; configure human-in-the-loop review thresholds for write actions.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297680" y="34290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480560" y="3611880"/>
            <a:ext cx="457200" cy="45720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44805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5074920" y="35753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Rollout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074920" y="38679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498848" y="432511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rollout to the TPM pilot group; weekly feedback loop and metric tracking against success criteria.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8046720" y="34290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229600" y="3611880"/>
            <a:ext cx="457200" cy="45720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82296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8823960" y="35753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Scale Decision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823960" y="38679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247888" y="432511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against success metrics; decide on broader rollout, iteration, or scope adjustment.</a:t>
            </a:r>
            <a:endParaRPr lang="en-US" sz="980" dirty="0"/>
          </a:p>
        </p:txBody>
      </p:sp>
      <p:sp>
        <p:nvSpPr>
          <p:cNvPr id="40" name="Text 3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CHARTER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Risks &amp; Mitigation Strategies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58368" y="1463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90288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327648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882128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58368" y="19202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drafts/cancels a meeting incorrectly</a:t>
            </a:r>
            <a:endParaRPr lang="en-US" sz="97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19202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7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19202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70" dirty="0"/>
          </a:p>
        </p:txBody>
      </p:sp>
      <p:sp>
        <p:nvSpPr>
          <p:cNvPr id="13" name="Text 11"/>
          <p:cNvSpPr txBox="1"/>
          <p:nvPr/>
        </p:nvSpPr>
        <p:spPr>
          <a:xfrm>
            <a:off x="7882128" y="19202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gate on all write actions above threshold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548640" y="257860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58368" y="257860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API rate limits or outages</a:t>
            </a:r>
            <a:endParaRPr lang="en-US" sz="970" dirty="0"/>
          </a:p>
        </p:txBody>
      </p:sp>
      <p:sp>
        <p:nvSpPr>
          <p:cNvPr id="16" name="Text 14"/>
          <p:cNvSpPr txBox="1"/>
          <p:nvPr/>
        </p:nvSpPr>
        <p:spPr>
          <a:xfrm>
            <a:off x="4590288" y="257860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7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25786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70" dirty="0"/>
          </a:p>
        </p:txBody>
      </p:sp>
      <p:sp>
        <p:nvSpPr>
          <p:cNvPr id="18" name="Text 16"/>
          <p:cNvSpPr txBox="1"/>
          <p:nvPr/>
        </p:nvSpPr>
        <p:spPr>
          <a:xfrm>
            <a:off x="7882128" y="25786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auto-retry with backoff; fallback message to user on repeated failure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58368" y="323697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meeting transcripts feed bad notes</a:t>
            </a:r>
            <a:endParaRPr lang="en-US" sz="970" dirty="0"/>
          </a:p>
        </p:txBody>
      </p:sp>
      <p:sp>
        <p:nvSpPr>
          <p:cNvPr id="21" name="Text 19"/>
          <p:cNvSpPr txBox="1"/>
          <p:nvPr/>
        </p:nvSpPr>
        <p:spPr>
          <a:xfrm>
            <a:off x="4590288" y="323697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70" dirty="0"/>
          </a:p>
        </p:txBody>
      </p:sp>
      <p:sp>
        <p:nvSpPr>
          <p:cNvPr id="22" name="Text 20"/>
          <p:cNvSpPr txBox="1"/>
          <p:nvPr/>
        </p:nvSpPr>
        <p:spPr>
          <a:xfrm>
            <a:off x="6327648" y="323697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70" dirty="0"/>
          </a:p>
        </p:txBody>
      </p:sp>
      <p:sp>
        <p:nvSpPr>
          <p:cNvPr id="23" name="Text 21"/>
          <p:cNvSpPr txBox="1"/>
          <p:nvPr/>
        </p:nvSpPr>
        <p:spPr>
          <a:xfrm>
            <a:off x="7882128" y="32369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Consolidator flags missing sources instead of fabricating content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548640" y="38953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58368" y="389534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over-trust agent output without review</a:t>
            </a:r>
            <a:endParaRPr lang="en-US" sz="970" dirty="0"/>
          </a:p>
        </p:txBody>
      </p:sp>
      <p:sp>
        <p:nvSpPr>
          <p:cNvPr id="26" name="Text 24"/>
          <p:cNvSpPr txBox="1"/>
          <p:nvPr/>
        </p:nvSpPr>
        <p:spPr>
          <a:xfrm>
            <a:off x="4590288" y="389534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70" dirty="0"/>
          </a:p>
        </p:txBody>
      </p:sp>
      <p:sp>
        <p:nvSpPr>
          <p:cNvPr id="27" name="Text 25"/>
          <p:cNvSpPr txBox="1"/>
          <p:nvPr/>
        </p:nvSpPr>
        <p:spPr>
          <a:xfrm>
            <a:off x="6327648" y="389534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70" dirty="0"/>
          </a:p>
        </p:txBody>
      </p:sp>
      <p:sp>
        <p:nvSpPr>
          <p:cNvPr id="28" name="Text 26"/>
          <p:cNvSpPr txBox="1"/>
          <p:nvPr/>
        </p:nvSpPr>
        <p:spPr>
          <a:xfrm>
            <a:off x="7882128" y="389534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prompts on scheduling actions; training in rollout plan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548640" y="455371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58368" y="455371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beyond TPM pilot group</a:t>
            </a:r>
            <a:endParaRPr lang="en-US" sz="970" dirty="0"/>
          </a:p>
        </p:txBody>
      </p:sp>
      <p:sp>
        <p:nvSpPr>
          <p:cNvPr id="31" name="Text 29"/>
          <p:cNvSpPr txBox="1"/>
          <p:nvPr/>
        </p:nvSpPr>
        <p:spPr>
          <a:xfrm>
            <a:off x="4590288" y="455371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70" dirty="0"/>
          </a:p>
        </p:txBody>
      </p:sp>
      <p:sp>
        <p:nvSpPr>
          <p:cNvPr id="32" name="Text 30"/>
          <p:cNvSpPr txBox="1"/>
          <p:nvPr/>
        </p:nvSpPr>
        <p:spPr>
          <a:xfrm>
            <a:off x="6327648" y="45537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70" dirty="0"/>
          </a:p>
        </p:txBody>
      </p:sp>
      <p:sp>
        <p:nvSpPr>
          <p:cNvPr id="33" name="Text 31"/>
          <p:cNvSpPr txBox="1"/>
          <p:nvPr/>
        </p:nvSpPr>
        <p:spPr>
          <a:xfrm>
            <a:off x="7882128" y="455371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scope locked for Phase 1; changes routed through change control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548640" y="52120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658368" y="52120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— calendar/email content exposure</a:t>
            </a:r>
            <a:endParaRPr lang="en-US" sz="970" dirty="0"/>
          </a:p>
        </p:txBody>
      </p:sp>
      <p:sp>
        <p:nvSpPr>
          <p:cNvPr id="36" name="Text 34"/>
          <p:cNvSpPr txBox="1"/>
          <p:nvPr/>
        </p:nvSpPr>
        <p:spPr>
          <a:xfrm>
            <a:off x="4590288" y="52120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70" dirty="0"/>
          </a:p>
        </p:txBody>
      </p:sp>
      <p:sp>
        <p:nvSpPr>
          <p:cNvPr id="37" name="Text 35"/>
          <p:cNvSpPr txBox="1"/>
          <p:nvPr/>
        </p:nvSpPr>
        <p:spPr>
          <a:xfrm>
            <a:off x="6327648" y="52120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70" dirty="0"/>
          </a:p>
        </p:txBody>
      </p:sp>
      <p:sp>
        <p:nvSpPr>
          <p:cNvPr id="38" name="Text 36"/>
          <p:cNvSpPr txBox="1"/>
          <p:nvPr/>
        </p:nvSpPr>
        <p:spPr>
          <a:xfrm>
            <a:off x="7882128" y="52120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OAuth scopes; no data retention beyond session memory</a:t>
            </a:r>
            <a:endParaRPr lang="en-US" sz="970" dirty="0"/>
          </a:p>
        </p:txBody>
      </p:sp>
      <p:sp>
        <p:nvSpPr>
          <p:cNvPr id="39" name="Text 3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CHARTER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Actors &amp; Decision-Making Authority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548640" cy="54864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alendarmate_deck/icons/briefc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02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371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(Executive Sponsor)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1371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funding and strategic direction; final escalation point; approves scope changes.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48640" y="2176272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77240" y="2267712"/>
            <a:ext cx="548640" cy="54864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calendarmate_deck/icons/user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0487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21762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TPM (Program Owner)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5029200" y="2176272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delivery end-to-end — architecture, build sequencing, risk log, stakeholder communication.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2980944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77240" y="3072384"/>
            <a:ext cx="548640" cy="54864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calendarmate_deck/icons/cpu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0954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298094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Engineers / Data Scientists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5029200" y="2980944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tune agent prompts, tool integrations and model configuration.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378561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77240" y="3877056"/>
            <a:ext cx="548640" cy="54864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calendarmate_deck/icons/setting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01421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378561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Security Team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5029200" y="378561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OAuth scopes, data handling and n8n environment hardening.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459028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777240" y="4681728"/>
            <a:ext cx="548640" cy="548640"/>
          </a:xfrm>
          <a:prstGeom prst="ellipse">
            <a:avLst/>
          </a:prstGeom>
          <a:solidFill>
            <a:srgbClr val="2C7D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calendarmate_deck/icons/user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81888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45902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TPM Group (End Users)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5029200" y="4590288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CalendarMate daily; provide structured feedback each pilot cycle.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548640" y="550468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777240" y="5623560"/>
            <a:ext cx="502920" cy="50292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home/claude/calendarmate_deck/icons/flag_16324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76072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463040" y="5577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process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3749040" y="550468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TPM decides day-to-day build and prioritization calls; escalates scope, budget or risk-acceptance decisions to the CTO, who holds final sign-off at each phase gate.</a:t>
            </a:r>
            <a:endParaRPr lang="en-US" sz="1080" dirty="0"/>
          </a:p>
        </p:txBody>
      </p:sp>
      <p:sp>
        <p:nvSpPr>
          <p:cNvPr id="34" name="Text 2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/>
              <a:t>23</a:t>
            </a:r>
          </a:p>
        </p:txBody>
      </p:sp>
      <p:sp>
        <p:nvSpPr>
          <p:cNvPr id="35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CHARTER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Communications &amp; Rollout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438912" cy="438912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alendarmate_deck/icons/flag_1632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164592" cy="1645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5636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Briefing</a:t>
            </a:r>
            <a:endParaRPr lang="en-US" sz="118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8379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Week 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221992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and AI TPM introduce CalendarMate scope, timeline and expectations to the pilot group.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297680" y="14173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480560" y="1600200"/>
            <a:ext cx="438912" cy="438912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calendarmate_deck/icons/activity_1632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737360"/>
            <a:ext cx="164592" cy="16459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29200" y="15636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Status Update</a:t>
            </a:r>
            <a:endParaRPr lang="en-US" sz="118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18379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498848" y="2221992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TPM reports build progress, blockers and risk log to the CTO and platform/security team.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8046720" y="14173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229600" y="1600200"/>
            <a:ext cx="438912" cy="438912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/home/claude/calendarmate_deck/icons/userCheck_16324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737360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778240" y="15636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Onboarding Session</a:t>
            </a:r>
            <a:endParaRPr lang="en-US" sz="1180" dirty="0"/>
          </a:p>
        </p:txBody>
      </p:sp>
      <p:sp>
        <p:nvSpPr>
          <p:cNvPr id="20" name="Text 15"/>
          <p:cNvSpPr txBox="1"/>
          <p:nvPr/>
        </p:nvSpPr>
        <p:spPr>
          <a:xfrm>
            <a:off x="8778240" y="18379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Week 9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8247888" y="2221992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walkthrough for the pilot TPM group before go-live — covers HITL review steps and escalation path.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548640" y="338328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731520" y="3566160"/>
            <a:ext cx="438912" cy="438912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/home/claude/calendarmate_deck/icons/mail_16324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703320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80160" y="35295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Pilot Digest</a:t>
            </a:r>
            <a:endParaRPr lang="en-US" sz="1180" dirty="0"/>
          </a:p>
        </p:txBody>
      </p:sp>
      <p:sp>
        <p:nvSpPr>
          <p:cNvPr id="26" name="Text 20"/>
          <p:cNvSpPr txBox="1"/>
          <p:nvPr/>
        </p:nvSpPr>
        <p:spPr>
          <a:xfrm>
            <a:off x="1280160" y="38039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Weekly, Weeks 9–12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749808" y="4187952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summary of usage, override rate and success-metric trend sent to the AI TPM and CTO.</a:t>
            </a:r>
            <a:endParaRPr lang="en-US" sz="980" dirty="0"/>
          </a:p>
        </p:txBody>
      </p:sp>
      <p:sp>
        <p:nvSpPr>
          <p:cNvPr id="28" name="Shape 22"/>
          <p:cNvSpPr/>
          <p:nvPr/>
        </p:nvSpPr>
        <p:spPr>
          <a:xfrm>
            <a:off x="4297680" y="338328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4480560" y="3566160"/>
            <a:ext cx="438912" cy="438912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4" descr="/home/claude/calendarmate_deck/icons/message_1632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703320"/>
            <a:ext cx="164592" cy="16459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029200" y="35295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Channel</a:t>
            </a:r>
            <a:endParaRPr lang="en-US" sz="1180" dirty="0"/>
          </a:p>
        </p:txBody>
      </p:sp>
      <p:sp>
        <p:nvSpPr>
          <p:cNvPr id="32" name="Text 25"/>
          <p:cNvSpPr txBox="1"/>
          <p:nvPr/>
        </p:nvSpPr>
        <p:spPr>
          <a:xfrm>
            <a:off x="5029200" y="38039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4498848" y="4187952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Slack channel for pilot users to flag issues or incorrect agent actions in real time.</a:t>
            </a:r>
            <a:endParaRPr lang="en-US" sz="980" dirty="0"/>
          </a:p>
        </p:txBody>
      </p:sp>
      <p:sp>
        <p:nvSpPr>
          <p:cNvPr id="34" name="Shape 27"/>
          <p:cNvSpPr/>
          <p:nvPr/>
        </p:nvSpPr>
        <p:spPr>
          <a:xfrm>
            <a:off x="8046720" y="338328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8229600" y="3566160"/>
            <a:ext cx="438912" cy="438912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5" descr="/home/claude/calendarmate_deck/icons/trend_16324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3703320"/>
            <a:ext cx="164592" cy="16459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778240" y="35295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Review</a:t>
            </a:r>
            <a:endParaRPr lang="en-US" sz="1180" dirty="0"/>
          </a:p>
        </p:txBody>
      </p:sp>
      <p:sp>
        <p:nvSpPr>
          <p:cNvPr id="38" name="Text 30"/>
          <p:cNvSpPr txBox="1"/>
          <p:nvPr/>
        </p:nvSpPr>
        <p:spPr>
          <a:xfrm>
            <a:off x="8778240" y="38039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Week 13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8247888" y="4187952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TPM presents metrics against success criteria; CTO makes the scale/iterate/pause decision.</a:t>
            </a:r>
            <a:endParaRPr lang="en-US" sz="980" dirty="0"/>
          </a:p>
        </p:txBody>
      </p:sp>
      <p:sp>
        <p:nvSpPr>
          <p:cNvPr id="40" name="Text 3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Constraints &amp;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01600" dist="25400" dir="5400000" algn="bl" rotWithShape="0">
              <a:srgbClr val="16324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C1666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alendarmate_deck/icons/ale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830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Transparency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48463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Consolidator relies on pre-saved transcripts or notes — it does not record or transcribe live meetings.</a:t>
            </a:r>
            <a:endParaRPr lang="en-US" sz="1150" dirty="0"/>
          </a:p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logic assumes accurate, up-to-date Google Calendar data for every attendee.</a:t>
            </a:r>
            <a:endParaRPr lang="en-US" sz="1150" dirty="0"/>
          </a:p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quality depends on inbox/notes volume seen during the pilot; edge cases will surface with broader usage.</a:t>
            </a:r>
            <a:endParaRPr lang="en-US" sz="1150" dirty="0"/>
          </a:p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tooling constraint (per academic assignment) limits some enterprise-grade monitoring options at this stage.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492240" y="1645920"/>
            <a:ext cx="502920" cy="50292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calendarmate_deck/icons/compass_1632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7830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331720"/>
            <a:ext cx="4892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the TPM pilot to adjacent roles (PMs, delivery leads) after a successful Go/No-Go.</a:t>
            </a:r>
            <a:endParaRPr lang="en-US" sz="1150" dirty="0"/>
          </a:p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live meeting-join support for real-time note capture, once budget allows.</a:t>
            </a:r>
            <a:endParaRPr lang="en-US" sz="1150" dirty="0"/>
          </a:p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proactive nudges (e.g. “you have a conflict forming next week”) rather than only on-demand answers.</a:t>
            </a:r>
            <a:endParaRPr lang="en-US" sz="1150" dirty="0"/>
          </a:p>
          <a:p>
            <a:pPr marL="342900" indent="-342900">
              <a:spcAft>
                <a:spcPts val="1300"/>
              </a:spcAft>
              <a:buSzPct val="100000"/>
              <a:buChar char="●"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Outlook/Exchange support for mixed-calendar enterprise environments.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316D9-7F04-9397-2CAA-C019BB46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CF88BA0-26A1-12EE-DCBD-EB826C115C30}"/>
              </a:ext>
            </a:extLst>
          </p:cNvPr>
          <p:cNvSpPr txBox="1"/>
          <p:nvPr/>
        </p:nvSpPr>
        <p:spPr>
          <a:xfrm>
            <a:off x="502920" y="68141"/>
            <a:ext cx="11064240" cy="54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28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C6727FD-3D8F-D913-4271-C4A336842B64}"/>
              </a:ext>
            </a:extLst>
          </p:cNvPr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F1B5C4CE-9276-61F6-010E-66E364F0190B}"/>
              </a:ext>
            </a:extLst>
          </p:cNvPr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D9CF13-ED8C-5F58-8FF6-1A81D7B79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765020"/>
            <a:ext cx="11392747" cy="575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4020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D001F-903B-C624-5666-5AD75EF89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4318266-D849-042C-63BA-A9D697F11BAF}"/>
              </a:ext>
            </a:extLst>
          </p:cNvPr>
          <p:cNvSpPr txBox="1"/>
          <p:nvPr/>
        </p:nvSpPr>
        <p:spPr>
          <a:xfrm>
            <a:off x="502920" y="68141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30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C05F338-6D77-A862-82B0-AE4ACC19AB46}"/>
              </a:ext>
            </a:extLst>
          </p:cNvPr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0ABD9DF-6251-CBF8-C7CC-975236D5A7C2}"/>
              </a:ext>
            </a:extLst>
          </p:cNvPr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AFA877B-9335-A274-4FB3-C0D000AA9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4" y="710367"/>
            <a:ext cx="11402695" cy="56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972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0D28AA-2ACD-A675-6A05-A4F3BA50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9F24EBD-1D0B-1EF1-3FDD-BE6045D5E745}"/>
              </a:ext>
            </a:extLst>
          </p:cNvPr>
          <p:cNvSpPr txBox="1"/>
          <p:nvPr/>
        </p:nvSpPr>
        <p:spPr>
          <a:xfrm>
            <a:off x="502920" y="68141"/>
            <a:ext cx="11064240" cy="54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28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9FB127C-A537-82E4-630E-70FF2B4C6EAA}"/>
              </a:ext>
            </a:extLst>
          </p:cNvPr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E16A4AE6-DB57-A541-0D82-EF30740FBE5F}"/>
              </a:ext>
            </a:extLst>
          </p:cNvPr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6686401C-001D-7BB1-1914-786403BFD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805" y="1140229"/>
            <a:ext cx="3971421" cy="4926995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BFC1DA40-F30E-9513-3C9A-FB10360C9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374593"/>
            <a:ext cx="5065980" cy="31928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91A79A-2286-2313-106F-9E10F6DAF2A6}"/>
              </a:ext>
            </a:extLst>
          </p:cNvPr>
          <p:cNvSpPr txBox="1"/>
          <p:nvPr/>
        </p:nvSpPr>
        <p:spPr>
          <a:xfrm>
            <a:off x="6189015" y="999466"/>
            <a:ext cx="28618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125" dirty="0">
                <a:latin typeface="Inter SemiBold"/>
              </a:rPr>
              <a:t>Invitee</a:t>
            </a:r>
            <a:r>
              <a:rPr lang="en-IN" sz="1400" dirty="0">
                <a:latin typeface="Inter SemiBold"/>
              </a:rPr>
              <a:t> </a:t>
            </a:r>
            <a:r>
              <a:rPr lang="en-IN" sz="1125" dirty="0">
                <a:latin typeface="Inter SemiBold"/>
              </a:rPr>
              <a:t>Meeting &amp; Guest Details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1D779B-BA6A-29EF-90E9-14851D7C4C3D}"/>
              </a:ext>
            </a:extLst>
          </p:cNvPr>
          <p:cNvSpPr txBox="1"/>
          <p:nvPr/>
        </p:nvSpPr>
        <p:spPr>
          <a:xfrm>
            <a:off x="1196886" y="980276"/>
            <a:ext cx="2094954" cy="1730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dirty="0">
                <a:latin typeface="Inter SemiBold"/>
              </a:rPr>
              <a:t>Meeting Setup Calendar Event</a:t>
            </a:r>
          </a:p>
        </p:txBody>
      </p:sp>
    </p:spTree>
    <p:extLst>
      <p:ext uri="{BB962C8B-B14F-4D97-AF65-F5344CB8AC3E}">
        <p14:creationId xmlns:p14="http://schemas.microsoft.com/office/powerpoint/2010/main" val="2641245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24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09A597-B22F-FE3F-EC16-B4BEEAFB5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67406F-AD6C-D26C-6AE8-EEE77EF1FEAF}"/>
              </a:ext>
            </a:extLst>
          </p:cNvPr>
          <p:cNvSpPr/>
          <p:nvPr/>
        </p:nvSpPr>
        <p:spPr>
          <a:xfrm>
            <a:off x="9052560" y="-2011680"/>
            <a:ext cx="5669280" cy="5669280"/>
          </a:xfrm>
          <a:prstGeom prst="ellipse">
            <a:avLst/>
          </a:prstGeom>
          <a:solidFill>
            <a:srgbClr val="2C7DA0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F6805A-603C-55B7-3D1E-D410D7EDD582}"/>
              </a:ext>
            </a:extLst>
          </p:cNvPr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F4A259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DC88673-8E91-C27A-20E7-FF85C19DBFAA}"/>
              </a:ext>
            </a:extLst>
          </p:cNvPr>
          <p:cNvSpPr/>
          <p:nvPr/>
        </p:nvSpPr>
        <p:spPr>
          <a:xfrm>
            <a:off x="5358384" y="1965960"/>
            <a:ext cx="822960" cy="82296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calendarmate_deck/icons/calendar_16324F.png">
            <a:extLst>
              <a:ext uri="{FF2B5EF4-FFF2-40B4-BE49-F238E27FC236}">
                <a16:creationId xmlns:a16="http://schemas.microsoft.com/office/drawing/2014/main" id="{E34788BC-651C-63E0-B6F0-5B26CD30A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544" y="2103120"/>
            <a:ext cx="548640" cy="54864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211C1872-A164-0F51-1B1C-DC09A159AF28}"/>
              </a:ext>
            </a:extLst>
          </p:cNvPr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073A319-B5D5-4AA9-FD95-11730E4F977F}"/>
              </a:ext>
            </a:extLst>
          </p:cNvPr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13B100-3629-E896-A654-46A4C2BC7426}"/>
              </a:ext>
            </a:extLst>
          </p:cNvPr>
          <p:cNvSpPr txBox="1"/>
          <p:nvPr/>
        </p:nvSpPr>
        <p:spPr>
          <a:xfrm>
            <a:off x="989162" y="2916846"/>
            <a:ext cx="11353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highlight>
                  <a:srgbClr val="FFFF00"/>
                </a:highlight>
              </a:rPr>
              <a:t>Click the link below to access the CalendarMate AI Copilot Agent. All JSON and project-related files are uploaded here. Note that all </a:t>
            </a:r>
            <a:r>
              <a:rPr lang="en-US" sz="1600" dirty="0">
                <a:highlight>
                  <a:srgbClr val="FFFF00"/>
                </a:highlight>
              </a:rPr>
              <a:t>.</a:t>
            </a:r>
            <a:r>
              <a:rPr lang="en-US" sz="1600" dirty="0" err="1">
                <a:highlight>
                  <a:srgbClr val="FFFF00"/>
                </a:highlight>
              </a:rPr>
              <a:t>json</a:t>
            </a:r>
            <a:r>
              <a:rPr lang="en-US" sz="1100" dirty="0">
                <a:highlight>
                  <a:srgbClr val="FFFF00"/>
                </a:highlight>
              </a:rPr>
              <a:t> files have been masked to protect PII data.</a:t>
            </a:r>
            <a:endParaRPr lang="en-IN" sz="1100" b="1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565807-33A5-BE3F-2810-3BDBCD39D128}"/>
              </a:ext>
            </a:extLst>
          </p:cNvPr>
          <p:cNvSpPr txBox="1"/>
          <p:nvPr/>
        </p:nvSpPr>
        <p:spPr>
          <a:xfrm>
            <a:off x="3880273" y="3493449"/>
            <a:ext cx="4309533" cy="58477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CalendarMate-AI-Copilot</a:t>
            </a:r>
            <a:endParaRPr lang="en-IN" sz="3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9513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5669280" cy="5669280"/>
          </a:xfrm>
          <a:prstGeom prst="ellipse">
            <a:avLst/>
          </a:prstGeom>
          <a:solidFill>
            <a:srgbClr val="2C7DA0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F4A259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358384" y="1965960"/>
            <a:ext cx="822960" cy="82296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calendarmate_deck/icons/calendar_1632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544" y="21031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063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3886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— Answering the TPM Scheduling Problem with an Orchestrator-Led Agentic AI Assistant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566160" y="484632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1F3E60"/>
          </a:solidFill>
          <a:ln w="12700">
            <a:solidFill>
              <a:srgbClr val="2C7D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3566160" y="5010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Rakesh Ranjan Yadav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5349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Technical Program Manager · ServionIQ Solutions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CalendarMate · Capstone Project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3027</Words>
  <Application>Microsoft Office PowerPoint</Application>
  <PresentationFormat>Custom</PresentationFormat>
  <Paragraphs>446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Cambria</vt:lpstr>
      <vt:lpstr>Courier New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Rakesh Yadav</cp:lastModifiedBy>
  <cp:revision>7</cp:revision>
  <dcterms:created xsi:type="dcterms:W3CDTF">2026-09-17T08:41:15Z</dcterms:created>
  <dcterms:modified xsi:type="dcterms:W3CDTF">2026-09-17T19:14:12Z</dcterms:modified>
</cp:coreProperties>
</file>